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AI-Based Restoration of Degraded Images for Semiconductor Inspection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KLA Hackathon 2026 — SEMICON India | Solution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Team Architecture: </a:t>
            </a:r>
            <a:r>
              <a:rPr sz="1250">
                <a:solidFill>
                  <a:srgbClr val="1E293B"/>
                </a:solidFill>
              </a:rPr>
              <a:t>Nonlinear Activation Free Super-Resolution (NAFNet-SR) with PixelShuffle(2)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Problem Statement: </a:t>
            </a:r>
            <a:r>
              <a:rPr sz="1250">
                <a:solidFill>
                  <a:srgbClr val="1E293B"/>
                </a:solidFill>
              </a:rPr>
              <a:t>Restoring 128x128 noisy, low-resolution grayscale wafer images to 256x256 clean ground truth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Core Innovation: </a:t>
            </a:r>
            <a:r>
              <a:rPr sz="1250">
                <a:solidFill>
                  <a:srgbClr val="1E293B"/>
                </a:solidFill>
              </a:rPr>
              <a:t>Physics-informed composite loss combining Charbonnier spatial loss, 2D FFT spectral loss, SSIM, and LPIPS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Key Result: </a:t>
            </a:r>
            <a:r>
              <a:rPr sz="1250">
                <a:solidFill>
                  <a:srgbClr val="1E293B"/>
                </a:solidFill>
              </a:rPr>
              <a:t>Peak Validation PSNR: 28.16 ± 5.02 dB (vs 23.01 ± 3.65 dB Bicubic baseline), SSIM: 0.7661 ± 0.1571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Hardware Context: </a:t>
            </a:r>
            <a:r>
              <a:rPr sz="1250">
                <a:solidFill>
                  <a:srgbClr val="1E293B"/>
                </a:solidFill>
              </a:rPr>
              <a:t>Benchmarked on NVIDIA GeForce RTX 3050 Laptop GPU (4GB VRAM) adhering to zero-touch CLI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Problem Understanding &amp; Task Formulation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Physical Inspection Constraints in Modern Semiconductor Wafer &amp; Mask Fabrication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Inspection Physics: </a:t>
            </a:r>
            <a:r>
              <a:rPr sz="1250">
                <a:solidFill>
                  <a:srgbClr val="1E293B"/>
                </a:solidFill>
              </a:rPr>
              <a:t>High-speed optical and e-beam imaging suffer from photon starvation, sensor thermal noise, and diffraction limits.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Restoration Objective: </a:t>
            </a:r>
            <a:r>
              <a:rPr sz="1250">
                <a:solidFill>
                  <a:srgbClr val="1E293B"/>
                </a:solidFill>
              </a:rPr>
              <a:t>Map single-channel degraded float32 observations (NoisyLR, 128x128) to pristine ground-truth structures (GT, 256x256).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Invariant 1: Unclipped Inputs: </a:t>
            </a:r>
            <a:r>
              <a:rPr sz="1250">
                <a:solidFill>
                  <a:srgbClr val="1E293B"/>
                </a:solidFill>
              </a:rPr>
              <a:t>Degraded inputs experience multiplicative speckle noise with pixel values exceeding [0, 1]. Inputs are NEVER clipped at dataloader to preserve physical sensor noise dynamics.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Invariant 2: Bounded Outputs: </a:t>
            </a:r>
            <a:r>
              <a:rPr sz="1250">
                <a:solidFill>
                  <a:srgbClr val="1E293B"/>
                </a:solidFill>
              </a:rPr>
              <a:t>Clean GT images are strictly in [0.0, 1.0]. Model outputs are guaranteed within range via explicit torch.clamp(x, 0.0, 1.0).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Invariant 3: Evaluator Contract: </a:t>
            </a:r>
            <a:r>
              <a:rPr sz="1250">
                <a:solidFill>
                  <a:srgbClr val="1E293B"/>
                </a:solidFill>
              </a:rPr>
              <a:t>Inference pipeline strictly accepts ONLY --input_dir and --output_dir CLI arguments without manual flag interventions.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Dataset Analysis &amp; Degradation Dynamics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Multi-Modal Noise Processes &amp; Deterministic 80/20 Train/Validation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Multiplicative Speckle Noise: </a:t>
            </a:r>
            <a:r>
              <a:rPr sz="1250">
                <a:solidFill>
                  <a:srgbClr val="1E293B"/>
                </a:solidFill>
              </a:rPr>
              <a:t>I_noisy = I + I * N(0, sigma_s^2) — signal-dependent noise altering wafer conductor lines and bright interconnects.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Additive Gaussian Noise: </a:t>
            </a:r>
            <a:r>
              <a:rPr sz="1250">
                <a:solidFill>
                  <a:srgbClr val="1E293B"/>
                </a:solidFill>
              </a:rPr>
              <a:t>I_noisy = I + N(0, sigma_g^2) — thermal background sensor noise causing intensity drift across dark silicon substrate.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Spatial Decimation: </a:t>
            </a:r>
            <a:r>
              <a:rPr sz="1250">
                <a:solidFill>
                  <a:srgbClr val="1E293B"/>
                </a:solidFill>
              </a:rPr>
              <a:t>2x bicubic downsampling resulting in edge blur, line bridging, and loss of sub-micron contact via definition.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Permutation Invariance: </a:t>
            </a:r>
            <a:r>
              <a:rPr sz="1250">
                <a:solidFill>
                  <a:srgbClr val="1E293B"/>
                </a:solidFill>
              </a:rPr>
              <a:t>Degradations occur in arbitrary unknown sequences (e.g. speckle -&gt; downsample -&gt; Gaussian vs. downsample -&gt; noise).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Dataset Audit &amp; Split: </a:t>
            </a:r>
            <a:r>
              <a:rPr sz="1250">
                <a:solidFill>
                  <a:srgbClr val="1E293B"/>
                </a:solidFill>
              </a:rPr>
              <a:t>Audited 3,200 raw pairs. Split deterministically into 2,560 train and 640 validation pairs (seed=42) to strictly evaluate unseen defect geometries.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End-to-End System Architecture Pipeline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Hierarchical Feature Encoding, Global Residual Learning &amp; Sub-Pixel Upsampling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Input Ingestion: </a:t>
            </a:r>
            <a:r>
              <a:rPr sz="1250">
                <a:solidFill>
                  <a:srgbClr val="1E293B"/>
                </a:solidFill>
              </a:rPr>
              <a:t>Raw single-channel float32 degraded tensor (B, 1, 128, 128) ingested directly without heuristic pre-filtering.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Global Residual Base: </a:t>
            </a:r>
            <a:r>
              <a:rPr sz="1250">
                <a:solidFill>
                  <a:srgbClr val="1E293B"/>
                </a:solidFill>
              </a:rPr>
              <a:t>Continuous bicubic upsampling provides a reliable low-frequency identity base (B, 1, 256, 256).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Deep Restoration Core: </a:t>
            </a:r>
            <a:r>
              <a:rPr sz="1250">
                <a:solidFill>
                  <a:srgbClr val="1E293B"/>
                </a:solidFill>
              </a:rPr>
              <a:t>4-stage NAFNet-SR encoder-decoder with skip connections extracts multi-scale spatial and frequency features (29.33M params).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Sub-Pixel Upsampling Head: </a:t>
            </a:r>
            <a:r>
              <a:rPr sz="1250">
                <a:solidFill>
                  <a:srgbClr val="1E293B"/>
                </a:solidFill>
              </a:rPr>
              <a:t>PixelShuffle(2) layer reconstructs high-frequency sub-micron edges and contact holes with zero checkerboard artifacts.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Post-Processing &amp; Output: </a:t>
            </a:r>
            <a:r>
              <a:rPr sz="1250">
                <a:solidFill>
                  <a:srgbClr val="1E293B"/>
                </a:solidFill>
              </a:rPr>
              <a:t>Element-wise summation (Base + Residual) clamped strictly to [0.0, 1.0] and exported with preserved filenames.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655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4. Preprocessing &amp; Data Augmentation Strategy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Preserving Physical Fidelity While Preventing Overfitting on Wafer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Zero Heuristic Filtering: </a:t>
            </a:r>
            <a:r>
              <a:rPr sz="1250">
                <a:solidFill>
                  <a:srgbClr val="1E293B"/>
                </a:solidFill>
              </a:rPr>
              <a:t>No classical pre-denoising filters (e.g. median/bilateral) applied prior to model to prevent irreversible fine line destruction.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Geometric Symmetries: </a:t>
            </a:r>
            <a:r>
              <a:rPr sz="1250">
                <a:solidFill>
                  <a:srgbClr val="1E293B"/>
                </a:solidFill>
              </a:rPr>
              <a:t>Random horizontal flips (p=0.5), vertical flips (p=0.5), and random 90-degree orthogonal rotations (k*90 deg).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Multi-Order Synthetic Degradations: </a:t>
            </a:r>
            <a:r>
              <a:rPr sz="1250">
                <a:solidFill>
                  <a:srgbClr val="1E293B"/>
                </a:solidFill>
              </a:rPr>
              <a:t>On-the-fly degradation module dynamically combining Gaussian blur, multi-scale speckle, and Gaussian noise.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High-Speed RAM Caching: </a:t>
            </a:r>
            <a:r>
              <a:rPr sz="1250">
                <a:solidFill>
                  <a:srgbClr val="1E293B"/>
                </a:solidFill>
              </a:rPr>
              <a:t>Dataset preloading caches float32 arrays in RAM, enabling instantaneous batch delivery and 100% GPU compute utilization.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5. NAFNet-SR Model Design &amp; Rationale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Nonlinear Activation Free Architecture (ECCV 2022 SOTA Adaptation)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SimpleGate (SG): </a:t>
            </a:r>
            <a:r>
              <a:rPr sz="1250">
                <a:solidFill>
                  <a:srgbClr val="1E293B"/>
                </a:solidFill>
              </a:rPr>
              <a:t>Replaces computationally expensive GELU/ReLU activations with parameter-free channel splitting: SG(x) = x1 * x2.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Simplified Channel Attention (SCA): </a:t>
            </a:r>
            <a:r>
              <a:rPr sz="1250">
                <a:solidFill>
                  <a:srgbClr val="1E293B"/>
                </a:solidFill>
              </a:rPr>
              <a:t>Global Average Pooling followed by 1x1 Conv dynamically weights inter-channel semiconductor feature correlations.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Depthwise Convolutions: </a:t>
            </a:r>
            <a:r>
              <a:rPr sz="1250">
                <a:solidFill>
                  <a:srgbClr val="1E293B"/>
                </a:solidFill>
              </a:rPr>
              <a:t>3x3 Depthwise Conv captures fine-pitch line structures and contact hole perimeters at minimal computational cost.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Channel LayerNorm2d: </a:t>
            </a:r>
            <a:r>
              <a:rPr sz="1250">
                <a:solidFill>
                  <a:srgbClr val="1E293B"/>
                </a:solidFill>
              </a:rPr>
              <a:t>Per-pixel channel normalization eliminates covariate shift and guarantees 100% mathematical gradient stability.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Parameter Capacity: </a:t>
            </a:r>
            <a:r>
              <a:rPr sz="1250">
                <a:solidFill>
                  <a:srgbClr val="1E293B"/>
                </a:solidFill>
              </a:rPr>
              <a:t>29.33 Million parameters (15x larger than a basic U-Net), providing high restoration expressiveness.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5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6. Composite Multi-Domain Loss Objective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Balancing Spatial Pixel Fidelity, Structural Topology, Frequency Spectrum &amp; Perceptual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Total Objective: </a:t>
            </a:r>
            <a:r>
              <a:rPr sz="1250">
                <a:solidFill>
                  <a:srgbClr val="1E293B"/>
                </a:solidFill>
              </a:rPr>
              <a:t>L_total = 1.0 * L_Charbonnier + 0.5 * L_SSIM + 0.1 * L_FFT + 0.02 * L_LPIPS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1. Charbonnier Spatial Loss (1.0): </a:t>
            </a:r>
            <a:r>
              <a:rPr sz="1250">
                <a:solidFill>
                  <a:srgbClr val="1E293B"/>
                </a:solidFill>
              </a:rPr>
              <a:t>Smooth differentiable L1 approximation (sqrt(diff^2 + 1e-6)) that avoids blurring sharp defect boundaries.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2. Structural Similarity (0.5): </a:t>
            </a:r>
            <a:r>
              <a:rPr sz="1250">
                <a:solidFill>
                  <a:srgbClr val="1E293B"/>
                </a:solidFill>
              </a:rPr>
              <a:t>SSIM with 11x11 Gaussian window enforcing contrast, luminance, and edge preservation across circuit lines.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3. 2D Fast Fourier Transform Loss (0.1): </a:t>
            </a:r>
            <a:r>
              <a:rPr sz="1250">
                <a:solidFill>
                  <a:srgbClr val="1E293B"/>
                </a:solidFill>
              </a:rPr>
              <a:t>Frequency-domain Charbonnier loss (sqrt(dReal^2 + dImag^2 + 1e-6)) enforcing periodic wafer grating pitch fidelity.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4. Perceptual LPIPS Loss (0.02): </a:t>
            </a:r>
            <a:r>
              <a:rPr sz="1250">
                <a:solidFill>
                  <a:srgbClr val="1E293B"/>
                </a:solidFill>
              </a:rPr>
              <a:t>Deep feature perceptual distance via pre-trained AlexNet backbone eliminating blurry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7. Sanity Check &amp; Karpathy 2-Pair Overfit Test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Empirical Capacity Verification Before Full Pipeline Convergence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Sanity Protocol: </a:t>
            </a:r>
            <a:r>
              <a:rPr sz="1250">
                <a:solidFill>
                  <a:srgbClr val="1E293B"/>
                </a:solidFill>
              </a:rPr>
              <a:t>Isolated exactly 2 degraded/GT pairs and trained with AdamW without regularization.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Verification Criterion: </a:t>
            </a:r>
            <a:r>
              <a:rPr sz="1250">
                <a:solidFill>
                  <a:srgbClr val="1E293B"/>
                </a:solidFill>
              </a:rPr>
              <a:t>Mandatory requirement: Total Loss -&gt; 0.0 and Peak PSNR &gt; 40.0 dB (as required by AGENT_RULES.md).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Empirical Result: </a:t>
            </a:r>
            <a:r>
              <a:rPr sz="1250">
                <a:solidFill>
                  <a:srgbClr val="1E293B"/>
                </a:solidFill>
              </a:rPr>
              <a:t>Model achieved 40.23 dB PSNR in only 80 iterations (Loss: 0.0018).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Conclusion: </a:t>
            </a:r>
            <a:r>
              <a:rPr sz="1250">
                <a:solidFill>
                  <a:srgbClr val="1E293B"/>
                </a:solidFill>
              </a:rPr>
              <a:t>Proves zero structural bottlenecks, valid gradient propagation, and exceptional reconstruction capacity of NAFNet-SR.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8. Quantitative Benchmark Results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Rigorous Evaluation on Held-Out 80/20 Validation Split (640 Images)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Bicubic Baseline: </a:t>
            </a:r>
            <a:r>
              <a:rPr sz="1250">
                <a:solidFill>
                  <a:srgbClr val="1E293B"/>
                </a:solidFill>
              </a:rPr>
              <a:t>PSNR: 23.01 ± 3.65 dB | SSIM: 0.5286 ± 0.1950 | LPIPS: 0.4428 ± 0.1618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Classical U-Net (Baseline Repo): </a:t>
            </a:r>
            <a:r>
              <a:rPr sz="1250">
                <a:solidFill>
                  <a:srgbClr val="1E293B"/>
                </a:solidFill>
              </a:rPr>
              <a:t>PSNR: 27.17 ± 4.30 dB | SSIM: 0.7121 ± 0.1472 | LPIPS: 0.2600 ± 0.1100 (1.93M params)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NAFNet-SR (Our Solution): </a:t>
            </a:r>
            <a:r>
              <a:rPr sz="1250">
                <a:solidFill>
                  <a:srgbClr val="1E293B"/>
                </a:solidFill>
              </a:rPr>
              <a:t>PSNR: 28.16 ± 5.02 dB | SSIM: 0.7661 ± 0.1571 | LPIPS: 0.2277 ± 0.1222 (29.33M params)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Net Improvement vs. Bicubic: </a:t>
            </a:r>
            <a:r>
              <a:rPr sz="1250">
                <a:solidFill>
                  <a:srgbClr val="1E293B"/>
                </a:solidFill>
              </a:rPr>
              <a:t>+5.15 dB PSNR Gain | +0.2375 SSIM Structural Gain | -48.6% Perceptual Distortion Drop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Advantage vs. Classical U-Net: </a:t>
            </a:r>
            <a:r>
              <a:rPr sz="1250">
                <a:solidFill>
                  <a:srgbClr val="1E293B"/>
                </a:solidFill>
              </a:rPr>
              <a:t>+0.99 dB higher PSNR, +0.054 higher SSIM, and lower perceptual error with superior line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03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9. Runtime Performance &amp; Production Latency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Benchmarked on NVIDIA GeForce RTX 3050 Laptop GPU (4GB VRAM)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Single-Image Latency (Batch=1): </a:t>
            </a:r>
            <a:r>
              <a:rPr sz="1250">
                <a:solidFill>
                  <a:srgbClr val="1E293B"/>
                </a:solidFill>
              </a:rPr>
              <a:t>39.10 ± 8.41 ms (25.6 FPS) on NVIDIA GeForce RTX 3050 Laptop GPU.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Batched Latency (Batch=8): </a:t>
            </a:r>
            <a:r>
              <a:rPr sz="1250">
                <a:solidFill>
                  <a:srgbClr val="1E293B"/>
                </a:solidFill>
              </a:rPr>
              <a:t>10.97 ms per image effective (91.2 FPS throughput).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Hardware Context: </a:t>
            </a:r>
            <a:r>
              <a:rPr sz="1250">
                <a:solidFill>
                  <a:srgbClr val="1E293B"/>
                </a:solidFill>
              </a:rPr>
              <a:t>RTX 3050 (2048 cores, 4GB) is lower-tier compared to RTX 4050 (2560 cores, 6GB) used in baseline repo.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Peak Memory Footprint: </a:t>
            </a:r>
            <a:r>
              <a:rPr sz="1250">
                <a:solidFill>
                  <a:srgbClr val="1E293B"/>
                </a:solidFill>
              </a:rPr>
              <a:t>284.0 MB VRAM peak, easily deployable on memory-constrained inspection workstations.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505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10. Visual Analysis, Edge Sharpness &amp; Limitations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Qualitative Restorations Across Noisy Wafer Patterns &amp; Defect Boundary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Visual Fidelity: </a:t>
            </a:r>
            <a:r>
              <a:rPr sz="1250">
                <a:solidFill>
                  <a:srgbClr val="1E293B"/>
                </a:solidFill>
              </a:rPr>
              <a:t>Successfully cleans heavy speckle noise and restores sharp 1-pixel wide circuit lines and contact holes.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High-Frequency Pitch Recovery: </a:t>
            </a:r>
            <a:r>
              <a:rPr sz="1250">
                <a:solidFill>
                  <a:srgbClr val="1E293B"/>
                </a:solidFill>
              </a:rPr>
              <a:t>2D FFT loss accurately recovers repeating pitch frequencies without introducing hallucinated artifacts.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Edge-Case Failure Analysis: </a:t>
            </a:r>
            <a:r>
              <a:rPr sz="1250">
                <a:solidFill>
                  <a:srgbClr val="1E293B"/>
                </a:solidFill>
              </a:rPr>
              <a:t>In extreme cases of complete sensor saturation (&gt;4 sigma noise), slight contrast compression may occur.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Mitigation Strategy: </a:t>
            </a:r>
            <a:r>
              <a:rPr sz="1250">
                <a:solidFill>
                  <a:srgbClr val="1E293B"/>
                </a:solidFill>
              </a:rPr>
              <a:t>Global residual bicubic connection preserves baseline luminance fidelity even in extreme low-signal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11. Conclusion, Repository &amp; Compliance Summary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Phase 1 Submission Package — KLA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GitHub Repository: </a:t>
            </a:r>
            <a:r>
              <a:rPr sz="1250">
                <a:solidFill>
                  <a:srgbClr val="1E293B"/>
                </a:solidFill>
              </a:rPr>
              <a:t>https://github.com/Ad1thh/KLA-Semicon-AI-Restoration (Public &amp; Complete)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Inference CLI Contract: </a:t>
            </a:r>
            <a:r>
              <a:rPr sz="1250">
                <a:solidFill>
                  <a:srgbClr val="1E293B"/>
                </a:solidFill>
              </a:rPr>
              <a:t>python inference.py --input_dir &lt;path&gt; --output_dir &lt;path&gt; (Strictly compliant, zero manual flags)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Reproducible Weights: </a:t>
            </a:r>
            <a:r>
              <a:rPr sz="1250">
                <a:solidFill>
                  <a:srgbClr val="1E293B"/>
                </a:solidFill>
              </a:rPr>
              <a:t>Tracked directly in Git repository (weights/nafnet_sr_best.pt, 56.15 MB, no download script needed).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F172A"/>
                </a:solidFill>
              </a:rPr>
              <a:t>*  Deliverables Checklist: </a:t>
            </a:r>
            <a:r>
              <a:rPr sz="1250">
                <a:solidFill>
                  <a:srgbClr val="1E293B"/>
                </a:solidFill>
              </a:rPr>
              <a:t>Presentation (.pptx &amp; .pdf), requirements.txt, best checkpoint weights, 6 visual triplets, and clean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KLA Semiconductor Image Restoration | SEMICON India 2026 | Solution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